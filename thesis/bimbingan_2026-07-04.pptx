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52514E"/>
                </a:solidFill>
              </a:rPr>
              <a:t>Korelasi vs ground truth (0 = tidak ada hubungan)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E34948"/>
              </a:solidFill>
            </c:spPr>
          </c:dPt>
          <c:dPt>
            <c:idx val="2"/>
            <c:spPr>
              <a:solidFill>
                <a:srgbClr val="E34948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cat>
            <c:strRef>
              <c:f>Sheet1!$A$2:$A$6</c:f>
              <c:strCache>
                <c:ptCount val="5"/>
                <c:pt idx="0">
                  <c:v>final_heart_rate</c:v>
                </c:pt>
                <c:pt idx="1">
                  <c:v>heart_rate_est_peak</c:v>
                </c:pt>
                <c:pt idx="2">
                  <c:v>heart_rate_est_fft</c:v>
                </c:pt>
                <c:pt idx="3">
                  <c:v>heart_rate_est_fft_4hz</c:v>
                </c:pt>
                <c:pt idx="4">
                  <c:v>heartRateEst_xCorr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0.003</c:v>
                </c:pt>
                <c:pt idx="1">
                  <c:v>-0.002</c:v>
                </c:pt>
                <c:pt idx="2">
                  <c:v>-0.045</c:v>
                </c:pt>
                <c:pt idx="3">
                  <c:v>0.088</c:v>
                </c:pt>
                <c:pt idx="4">
                  <c:v>-0.036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52514E"/>
                </a:solidFill>
              </a:rPr>
              <a:t>Korelasi per pendekatan (agregat 10 subjek)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dPt>
            <c:idx val="0"/>
            <c:spPr>
              <a:solidFill>
                <a:srgbClr val="E34948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 TI (xCorr)</c:v>
                </c:pt>
                <c:pt idx="1">
                  <c:v>Fase mentah (raw)</c:v>
                </c:pt>
                <c:pt idx="2">
                  <c:v>Fase + notch napas</c:v>
                </c:pt>
                <c:pt idx="3">
                  <c:v>Filter confidence top 2%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-0.036</c:v>
                </c:pt>
                <c:pt idx="1">
                  <c:v>0.091</c:v>
                </c:pt>
                <c:pt idx="2">
                  <c:v>0.077</c:v>
                </c:pt>
                <c:pt idx="3">
                  <c:v>0.043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52514E"/>
                </a:solidFill>
              </a:rPr>
              <a:t>MAE (bpm) — lebih rendah lebih baik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dPt>
            <c:idx val="0"/>
            <c:spPr>
              <a:solidFill>
                <a:srgbClr val="EC835A"/>
              </a:solidFill>
            </c:spPr>
          </c:dPt>
          <c:dPt>
            <c:idx val="1"/>
            <c:spPr>
              <a:solidFill>
                <a:srgbClr val="898781"/>
              </a:solidFill>
            </c:spPr>
          </c:dPt>
          <c:dPt>
            <c:idx val="2"/>
            <c:spPr>
              <a:solidFill>
                <a:srgbClr val="0CA30C"/>
              </a:solidFill>
            </c:spPr>
          </c:dPt>
          <c:cat>
            <c:strRef>
              <c:f>Sheet1!$A$2:$A$4</c:f>
              <c:strCache>
                <c:ptCount val="3"/>
                <c:pt idx="0">
                  <c:v>Model ML existing</c:v>
                </c:pt>
                <c:pt idx="1">
                  <c:v>Baseline trivial (tebak rata-rata)</c:v>
                </c:pt>
                <c:pt idx="2">
                  <c:v>Target pembimbing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11.9</c:v>
                </c:pt>
                <c:pt idx="2">
                  <c:v>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52514E"/>
                </a:solidFill>
              </a:rPr>
              <a:t>Rata-rata gt_heart_rate per subjek (bpm) — sumber variasi trivial baseline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dPt>
            <c:idx val="5"/>
            <c:spPr>
              <a:solidFill>
                <a:srgbClr val="2A78D6"/>
              </a:solidFill>
            </c:spPr>
          </c:dPt>
          <c:dPt>
            <c:idx val="6"/>
            <c:spPr>
              <a:solidFill>
                <a:srgbClr val="2A78D6"/>
              </a:solidFill>
            </c:spPr>
          </c:dPt>
          <c:dPt>
            <c:idx val="7"/>
            <c:spPr>
              <a:solidFill>
                <a:srgbClr val="2A78D6"/>
              </a:solidFill>
            </c:spPr>
          </c:dPt>
          <c:dPt>
            <c:idx val="8"/>
            <c:spPr>
              <a:solidFill>
                <a:srgbClr val="2A78D6"/>
              </a:solidFill>
            </c:spPr>
          </c:dPt>
          <c:dPt>
            <c:idx val="9"/>
            <c:spPr>
              <a:solidFill>
                <a:srgbClr val="2A78D6"/>
              </a:solidFill>
            </c:spPr>
          </c:dPt>
          <c:cat>
            <c:strRef>
              <c:f>Sheet1!$A$2:$A$11</c:f>
              <c:strCache>
                <c:ptCount val="10"/>
                <c:pt idx="0">
                  <c:v>subject01</c:v>
                </c:pt>
                <c:pt idx="1">
                  <c:v>subject09</c:v>
                </c:pt>
                <c:pt idx="2">
                  <c:v>subject03</c:v>
                </c:pt>
                <c:pt idx="3">
                  <c:v>subject02</c:v>
                </c:pt>
                <c:pt idx="4">
                  <c:v>subject06</c:v>
                </c:pt>
                <c:pt idx="5">
                  <c:v>subject04</c:v>
                </c:pt>
                <c:pt idx="6">
                  <c:v>subject08</c:v>
                </c:pt>
                <c:pt idx="7">
                  <c:v>subject05</c:v>
                </c:pt>
                <c:pt idx="8">
                  <c:v>subject07</c:v>
                </c:pt>
                <c:pt idx="9">
                  <c:v>subject10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89.3</c:v>
                </c:pt>
                <c:pt idx="1">
                  <c:v>84.4</c:v>
                </c:pt>
                <c:pt idx="2">
                  <c:v>78.5</c:v>
                </c:pt>
                <c:pt idx="3">
                  <c:v>77.6</c:v>
                </c:pt>
                <c:pt idx="4">
                  <c:v>76.2</c:v>
                </c:pt>
                <c:pt idx="5">
                  <c:v>75.4</c:v>
                </c:pt>
                <c:pt idx="6">
                  <c:v>75.2</c:v>
                </c:pt>
                <c:pt idx="7">
                  <c:v>68.3</c:v>
                </c:pt>
                <c:pt idx="8">
                  <c:v>65.3</c:v>
                </c:pt>
                <c:pt idx="9">
                  <c:v>61.1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98781"/>
                </a:solidFill>
              </a:rPr>
              <a:t>LAPORAN BIMBINGAN · 4 JULI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0B0B"/>
                </a:solidFill>
              </a:rPr>
              <a:t>Reliabilitas Sinyal Radar IWR1443BOOST
untuk Estimasi Heart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Evaluasi ulang baseline TI, sinyal fase mentah, dan model ML existing terhadap ground truth ECG — dataset position_front, 10 subjek.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l"/>
            <a:r>
              <a:rPr sz="1100" b="1">
                <a:solidFill>
                  <a:srgbClr val="E34948"/>
                </a:solidFill>
              </a:rPr>
              <a:t>TEMUAN UTAMA YANG AKAN DIBAHAS</a:t>
            </a:r>
          </a:p>
          <a:p>
            <a:pPr algn="l"/>
            <a:r>
              <a:rPr sz="1400">
                <a:solidFill>
                  <a:srgbClr val="0B0B0B"/>
                </a:solidFill>
              </a:rPr>
              <a:t>Model ML yang dilaporkan sebelumnya kemungkinan besar TIDAK lebih baik dari menebak angka rata-rata konstan.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663440"/>
            <a:ext cx="54864" cy="105156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Empat Angka Kunci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Sebelum masuk detail, ini posisi kita sekarang.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/>
          <a:lstStyle/>
          <a:p>
            <a:pPr algn="l"/>
            <a:r>
              <a:rPr sz="1100">
                <a:solidFill>
                  <a:srgbClr val="898781"/>
                </a:solidFill>
              </a:rPr>
              <a:t>MAE model existing (dilaporkan)</a:t>
            </a:r>
          </a:p>
          <a:p>
            <a:pPr algn="l"/>
            <a:r>
              <a:rPr sz="2400" b="1">
                <a:solidFill>
                  <a:srgbClr val="0B0B0B"/>
                </a:solidFill>
              </a:rPr>
              <a:t>≈ 10–19 bpm</a:t>
            </a:r>
          </a:p>
          <a:p>
            <a:pPr algn="l"/>
            <a:r>
              <a:rPr sz="1050">
                <a:solidFill>
                  <a:srgbClr val="898781"/>
                </a:solidFill>
              </a:rPr>
              <a:t>korelasi tidak dilaporkan saat itu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/>
          <a:lstStyle/>
          <a:p>
            <a:pPr algn="l"/>
            <a:r>
              <a:rPr sz="1100">
                <a:solidFill>
                  <a:srgbClr val="898781"/>
                </a:solidFill>
              </a:rPr>
              <a:t>MAE baseline trivial (tebak rata-rata)</a:t>
            </a:r>
          </a:p>
          <a:p>
            <a:pPr algn="l"/>
            <a:r>
              <a:rPr sz="2400" b="1">
                <a:solidFill>
                  <a:srgbClr val="E34948"/>
                </a:solidFill>
              </a:rPr>
              <a:t>11,9 bpm</a:t>
            </a:r>
          </a:p>
          <a:p>
            <a:pPr algn="l"/>
            <a:r>
              <a:rPr sz="1050">
                <a:solidFill>
                  <a:srgbClr val="898781"/>
                </a:solidFill>
              </a:rPr>
              <a:t>tanpa fitur radar sama sekali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/>
          <a:lstStyle/>
          <a:p>
            <a:pPr algn="l"/>
            <a:r>
              <a:rPr sz="1100">
                <a:solidFill>
                  <a:srgbClr val="898781"/>
                </a:solidFill>
              </a:rPr>
              <a:t>Target pembimbing</a:t>
            </a:r>
          </a:p>
          <a:p>
            <a:pPr algn="l"/>
            <a:r>
              <a:rPr sz="2400" b="1">
                <a:solidFill>
                  <a:srgbClr val="0CA30C"/>
                </a:solidFill>
              </a:rPr>
              <a:t>≤ 5 bpm</a:t>
            </a:r>
          </a:p>
          <a:p>
            <a:pPr algn="l"/>
            <a:r>
              <a:rPr sz="1050">
                <a:solidFill>
                  <a:srgbClr val="898781"/>
                </a:solidFill>
              </a:rPr>
              <a:t>syarat lanjut ke tahap berikutnya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/>
          <a:lstStyle/>
          <a:p>
            <a:pPr algn="l"/>
            <a:r>
              <a:rPr sz="1100">
                <a:solidFill>
                  <a:srgbClr val="898781"/>
                </a:solidFill>
              </a:rPr>
              <a:t>Korelasi terbaik (4 pendekatan)</a:t>
            </a:r>
          </a:p>
          <a:p>
            <a:pPr algn="l"/>
            <a:r>
              <a:rPr sz="2400" b="1">
                <a:solidFill>
                  <a:srgbClr val="E34948"/>
                </a:solidFill>
              </a:rPr>
              <a:t>0,09</a:t>
            </a:r>
          </a:p>
          <a:p>
            <a:pPr algn="l"/>
            <a:r>
              <a:rPr sz="1050">
                <a:solidFill>
                  <a:srgbClr val="898781"/>
                </a:solidFill>
              </a:rPr>
              <a:t>target realistis: ≥ 0,3–0,5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TEMUAN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Output HR Bawaan TI Tidak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Dibandingkan ground truth ECG (R-peak Pan-Tompkins), 10 subjek, n=218.603 sampel.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28600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2286000"/>
          <a:ext cx="4023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98781"/>
                          </a:solidFill>
                        </a:defRPr>
                      </a:pPr>
                      <a:r>
                        <a:t>Kolom</a:t>
                      </a:r>
                    </a:p>
                  </a:txBody>
                  <a:tcPr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898781"/>
                          </a:solidFill>
                        </a:defRPr>
                      </a:pPr>
                      <a:r>
                        <a:t>MAE (bpm)</a:t>
                      </a:r>
                    </a:p>
                  </a:txBody>
                  <a:tcPr>
                    <a:solidFill>
                      <a:srgbClr val="F4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final_heart_rate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68,4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heart_rate_est_peak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68,8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heart_rate_est_fft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32,7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heart_rate_est_fft_4hz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95,0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heartRateEst_xCorr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B0B0B"/>
                          </a:solidFill>
                        </a:defRPr>
                      </a:pPr>
                      <a:r>
                        <a:t>23,4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52120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898781"/>
                </a:solidFill>
              </a:rPr>
              <a:t>final_heart_rate &amp; heart_rate_est_peak stuck di nilai sentinel 5,86 untuk 99,6% sampel — bukan hasil ukur valid.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TEMUAN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Empat Pendekatan Dicoba — Semua Mentok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Sebelum menyimpulkan masalah akuisisi, dicoba menyelamatkan sinyal di luar algoritma TI.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286000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46888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52514E"/>
                </a:solidFill>
              </a:defRPr>
            </a:pPr>
            <a:r>
              <a:t>•  Filter confidence_heart: tidak prediktif, skala beda total antar dataset (position_front vs position_variation).</a:t>
            </a:r>
          </a:p>
          <a:p>
            <a:pPr>
              <a:spcAft>
                <a:spcPts val="1000"/>
              </a:spcAft>
              <a:defRPr sz="1300">
                <a:solidFill>
                  <a:srgbClr val="52514E"/>
                </a:solidFill>
              </a:defRPr>
            </a:pPr>
            <a:r>
              <a:t>•  Breathing-harmonic suppression: tidak membantu, korelasi malah turun (0,091 → 0,077).</a:t>
            </a:r>
          </a:p>
          <a:p>
            <a:pPr>
              <a:spcAft>
                <a:spcPts val="1000"/>
              </a:spcAft>
              <a:defRPr sz="1300">
                <a:solidFill>
                  <a:srgbClr val="52514E"/>
                </a:solidFill>
              </a:defRPr>
            </a:pPr>
            <a:r>
              <a:t>•  Semua &lt; 0,1 — jauh dari ambang ≥0,3–0,5 yang berarti “ada sinyal HR yang bisa diekstrak”.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TEMUAN PALING KRITIS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Model ML Existing vs Baseline 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Fitur: heart_rate_est_fft, heart_rate_est_fft_4hz, heartRateEst_xCorr, heart_rate_est_peak, confidence_heart. Train 8 subjek, test 2 subjek terakhir.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286000"/>
          <a:ext cx="108813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PENJELASAN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Kenapa Ini Bisa Terjadi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l"/>
            <a:r>
              <a:rPr sz="1100" b="1">
                <a:solidFill>
                  <a:srgbClr val="8A5C00"/>
                </a:solidFill>
              </a:rPr>
              <a:t>GARBAGE IN, GARBAGE OUT</a:t>
            </a:r>
          </a:p>
          <a:p>
            <a:pPr algn="l"/>
            <a:r>
              <a:rPr sz="1400">
                <a:solidFill>
                  <a:srgbClr val="0B0B0B"/>
                </a:solidFill>
              </a:rPr>
              <a:t>Fitur model existing = tepat kolom yang terbukti korelasi ≈0 (Slide 3). Input tanpa info HR → model regresi konvergen ke rata-rata target → MAE tampak “masuk akal” tanpa pembelajaran sinyal sungguhan.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4864" cy="10515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3017520"/>
          <a:ext cx="108813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UNTUK DIDISKUSIKAN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Rekomendasi Arah Selanjutnya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Standar evaluasi baru: tiap laporan MAE wajib sertakan korelasi/R² + pembanding baseline trivial, split subjek sama.</a:t>
            </a:r>
          </a:p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Opsi A: lanjut teknik ekstraksi lebih canggih (VMD, deep learning di raw waveform fase) — effort besar, belum ada jaminan.</a:t>
            </a:r>
          </a:p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Opsi B: root-cause analysis kenapa radar gagal tangkap sinyal HR — kontribusi ilmiah valid meski hasil negatif.</a:t>
            </a:r>
          </a:p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Opsi C: evaluasi ulang akuisisi data (jarak, sudut, kondisi rekam) — pertimbangkan rekam ulang dengan setup lebih terkontrol.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98781"/>
                </a:solidFill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</a:rPr>
              <a:t>Poin yang Perlu Keputusan Pembimbing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Apakah lanjut Opsi A, B, atau C (atau kombinasi)?</a:t>
            </a:r>
          </a:p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Apakah standar evaluasi baru (korelasi + trivial baseline) bisa jadi wajib mulai sekarang?</a:t>
            </a:r>
          </a:p>
          <a:p>
            <a:pPr>
              <a:spcAft>
                <a:spcPts val="1000"/>
              </a:spcAft>
              <a:defRPr sz="1700">
                <a:solidFill>
                  <a:srgbClr val="52514E"/>
                </a:solidFill>
              </a:defRPr>
            </a:pPr>
            <a:r>
              <a:t>•  Apakah ada dana/waktu untuk rekam ulang data kalau Opsi C dipilih?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898781"/>
                </a:solidFill>
              </a:rPr>
              <a:t>Detail lengkap: CLAUDE.md (Temuan Kunci poin 1–8), script di code/evaluation/.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