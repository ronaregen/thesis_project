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290A3B-18DF-4F5B-9A10-D783846F4C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66974D-BEBA-447F-84B6-622A404FA4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AC024EC-AE28-4F70-A666-69D67E3BFD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7AAFF3-A7F3-4CE0-A7DF-6B48AAEFEC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3A56A6-3E9A-4773-850C-9933430954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CB843B4-E5FB-475C-A500-9AB6601FE5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91FD765-C64C-492E-A120-2628768508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80F61DA-5F87-46C3-ABB9-BAE736A752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01BB81F-3DA7-4D92-BE69-472BD76FED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E8080AE-27ED-4C49-9FD7-0686B059BB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9AF9923-A9A2-442E-B050-90DB1690EF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E3DAB31-25FF-4278-9A27-17A385F74DB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2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E7E0D47-A856-479A-97C1-A8DB4011DAF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184AA0F-C583-47D8-BD07-6821502B5E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2819F34-86DD-4EB3-AA3A-C9EE9982FD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527DB64-D447-488D-B156-57F3A75A196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19240C-FB4C-435D-8D7C-3258638E4D7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92E0938-BA64-4843-8EB3-3D915BEA3E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FAEE4B5-F974-45AF-AD40-8BE1B7AFEB8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F8124B8-2ACA-4DE9-9DDB-961677C7300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62427A9-31E2-4E62-92E6-3C393670B9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7404A1D-ADFD-4214-8603-6956083778B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1" descr="uii_logo.png"/>
          <p:cNvPicPr/>
          <p:nvPr/>
        </p:nvPicPr>
        <p:blipFill>
          <a:blip r:embed="rId1"/>
          <a:stretch/>
        </p:blipFill>
        <p:spPr>
          <a:xfrm>
            <a:off x="640080" y="502920"/>
            <a:ext cx="1005120" cy="1377000"/>
          </a:xfrm>
          <a:prstGeom prst="rect">
            <a:avLst/>
          </a:prstGeom>
          <a:ln w="0">
            <a:noFill/>
          </a:ln>
        </p:spPr>
      </p:pic>
      <p:sp>
        <p:nvSpPr>
          <p:cNvPr id="52" name="TextBox 2"/>
          <p:cNvSpPr/>
          <p:nvPr/>
        </p:nvSpPr>
        <p:spPr>
          <a:xfrm>
            <a:off x="914400" y="2148840"/>
            <a:ext cx="10332000" cy="11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8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</a:rPr>
              <a:t>Estimasi Detak Jantung Berbasis Sinyal Fase Mentah Radar FMCW TI IWR1443BOOST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Box 3"/>
          <p:cNvSpPr/>
          <p:nvPr/>
        </p:nvSpPr>
        <p:spPr>
          <a:xfrm>
            <a:off x="914400" y="3794760"/>
            <a:ext cx="1033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800" spc="-1" strike="noStrike">
                <a:solidFill>
                  <a:srgbClr val="cadcfc"/>
                </a:solidFill>
                <a:latin typeface="Calibri"/>
              </a:rPr>
              <a:t>Rancangan Pipeline Tervalidasi Standar ANSI/CTA-2065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Box 4"/>
          <p:cNvSpPr/>
          <p:nvPr/>
        </p:nvSpPr>
        <p:spPr>
          <a:xfrm>
            <a:off x="914400" y="4892040"/>
            <a:ext cx="73144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</a:rPr>
              <a:t>Sidang Tesis — Program Magister Teknik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Box 5"/>
          <p:cNvSpPr/>
          <p:nvPr/>
        </p:nvSpPr>
        <p:spPr>
          <a:xfrm>
            <a:off x="914400" y="5623560"/>
            <a:ext cx="731448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Rona Regen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Box 6"/>
          <p:cNvSpPr/>
          <p:nvPr/>
        </p:nvSpPr>
        <p:spPr>
          <a:xfrm>
            <a:off x="914400" y="5989320"/>
            <a:ext cx="731448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23925006  |  Program Studi Rekayasa Elektro, Program Magister  |  Universitas Islam Indonesia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58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Latar Belakang dan Rumusan Masalah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Mengapa sinyal fase mentah yang diteliti, bukan yang lain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Rounded Rectangle 5"/>
          <p:cNvSpPr/>
          <p:nvPr/>
        </p:nvSpPr>
        <p:spPr>
          <a:xfrm>
            <a:off x="685800" y="1463040"/>
            <a:ext cx="5394600" cy="21484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914400" y="1600200"/>
            <a:ext cx="49374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Latar belakang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Box 7"/>
          <p:cNvSpPr/>
          <p:nvPr/>
        </p:nvSpPr>
        <p:spPr>
          <a:xfrm>
            <a:off x="914400" y="1965960"/>
            <a:ext cx="49374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Penyakit kardiovaskular = penyebab kematian utama global; pemantauan detak jantung perlu berkelanjutan.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EKG kontak akurat tetapi tidak nyaman untuk pemantauan kontinu.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Radar FMCW menangkap micromotion permukaan dada tanpa kontak. Sinyal FASE adalah representasi paling langsung dari perpindahan itu.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8"/>
          <p:cNvSpPr/>
          <p:nvPr/>
        </p:nvSpPr>
        <p:spPr>
          <a:xfrm>
            <a:off x="6309360" y="1463040"/>
            <a:ext cx="5166000" cy="21484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9"/>
          <p:cNvSpPr/>
          <p:nvPr/>
        </p:nvSpPr>
        <p:spPr>
          <a:xfrm>
            <a:off x="6537960" y="1600200"/>
            <a:ext cx="4754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Rumusan masalah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6537960" y="1965960"/>
            <a:ext cx="475452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1.  Apakah sinyal fase mentah benar mengandung informasi detak jantung, bukan </a:t>
            </a:r>
            <a:r>
              <a:rPr b="0" i="1" lang="en-US" sz="1250" spc="-1" strike="noStrike">
                <a:solidFill>
                  <a:srgbClr val="ffffff"/>
                </a:solidFill>
                <a:latin typeface="Calibri"/>
              </a:rPr>
              <a:t>noise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 atau artefak?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2.  Seberapa akurat estimasi detak jantung darinya terhadap standar ANSI/CTA-2065?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3.  Faktor fisik apa yang menentukan berhasil atau gagalnya estimasi?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Rounded Rectangle 11"/>
          <p:cNvSpPr/>
          <p:nvPr/>
        </p:nvSpPr>
        <p:spPr>
          <a:xfrm>
            <a:off x="685800" y="3840480"/>
            <a:ext cx="10789560" cy="16912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12"/>
          <p:cNvSpPr/>
          <p:nvPr/>
        </p:nvSpPr>
        <p:spPr>
          <a:xfrm>
            <a:off x="914400" y="3977640"/>
            <a:ext cx="10332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Batasan masalah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914400" y="4316040"/>
            <a:ext cx="1033236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Objek tunggal: sinyal fase mentah unwrapPhasePeak_mm (perpindahan dada, mm).   •  Akuisisi 50 fps.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Kondisi subjek ISTIRAHAT → yang dievaluasi ketepatan detak rata-rata per jendela 40 detik, bukan pelacakan perubahan detak jantung.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Estimasi detak rata-rata, BUKAN variabilitas detak jantung (HRV).   •  Acuan kebenaran: EKG Attys 125 Hz.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Standar penilaian: ANSI/CTA-2065, MAPE &lt; 10%. Batas fisik keberlakuan dilaporkan sebagai hasil — tidak ada subjek yang dibuang.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71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Pengaturan Eksperimen dan Acuan Kebenaran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Dua perangkat merekam bersamaan; EKG menjadi acuan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ounded Rectangle 5"/>
          <p:cNvSpPr/>
          <p:nvPr/>
        </p:nvSpPr>
        <p:spPr>
          <a:xfrm>
            <a:off x="685800" y="1417320"/>
            <a:ext cx="5394600" cy="23770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914400" y="1536120"/>
            <a:ext cx="49374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Perangkat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7"/>
          <p:cNvSpPr/>
          <p:nvPr/>
        </p:nvSpPr>
        <p:spPr>
          <a:xfrm>
            <a:off x="914400" y="1901880"/>
            <a:ext cx="4937400" cy="10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Perangkat uji: radar FMCW TI IWR1443BOOST, 77 GHz, akuisisi 50 fps.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Acuan: perekam EKG Attys, 125 Hz.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Keduanya merekam pada rentang waktu yang sama dengan penanda waktu masing-masing → disinkronkan berbasis waktu.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Rounded Rectangle 8"/>
          <p:cNvSpPr/>
          <p:nvPr/>
        </p:nvSpPr>
        <p:spPr>
          <a:xfrm>
            <a:off x="6309360" y="1417320"/>
            <a:ext cx="5166000" cy="23770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6537960" y="1536120"/>
            <a:ext cx="4754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Acuan kebenaran — Pan-Tompkins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537960" y="1901880"/>
            <a:ext cx="475452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→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Penapisan pita 5–15 Hz → turunan → pengkuadratan → integrasi jendela bergerak → deteksi puncak R.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→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Batasan fisiologis 40–180 bpm menyaring puncak takwajar.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→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Bukan analisis spektral langsung: energi kompleks QRS berada di frekuensi jauh lebih tinggi sehingga estimasi spektral tidak stabil.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868680" y="3977640"/>
            <a:ext cx="49374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Dataset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1" name="Table 12"/>
          <p:cNvGraphicFramePr/>
          <p:nvPr/>
        </p:nvGraphicFramePr>
        <p:xfrm>
          <a:off x="868680" y="4316040"/>
          <a:ext cx="10515240" cy="1371240"/>
        </p:xfrm>
        <a:graphic>
          <a:graphicData uri="http://schemas.openxmlformats.org/drawingml/2006/table">
            <a:tbl>
              <a:tblPr/>
              <a:tblGrid>
                <a:gridCol w="3504960"/>
                <a:gridCol w="3504960"/>
                <a:gridCol w="3504960"/>
              </a:tblGrid>
              <a:tr h="3427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Peran dalam penelitian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</a:tr>
              <a:tr h="3427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Subjek utama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10 subjek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Penentuan parameter dan evaluasi akurasi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427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Variasi jarak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2 sesi (50 &amp; 100 cm)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Bukti kausal hubungan SNR dengan akurasi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  <a:tr h="3427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Ruangan kosong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2 sesi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adcfc"/>
                          </a:solidFill>
                          <a:latin typeface="Calibri"/>
                        </a:rPr>
                        <a:t>Kontrol negatif — radar tanpa subjek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83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Apa Itu Sinyal Fase Mentah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Perpindahan permukaan dada, terukur dalam milimeter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" name="Picture 5" descr="f03_fase.png"/>
          <p:cNvPicPr/>
          <p:nvPr/>
        </p:nvPicPr>
        <p:blipFill>
          <a:blip r:embed="rId2"/>
          <a:stretch/>
        </p:blipFill>
        <p:spPr>
          <a:xfrm>
            <a:off x="567000" y="1417320"/>
            <a:ext cx="6949080" cy="3911040"/>
          </a:xfrm>
          <a:prstGeom prst="rect">
            <a:avLst/>
          </a:prstGeom>
          <a:ln w="0">
            <a:noFill/>
          </a:ln>
        </p:spPr>
      </p:pic>
      <p:sp>
        <p:nvSpPr>
          <p:cNvPr id="87" name="Rounded Rectangle 6"/>
          <p:cNvSpPr/>
          <p:nvPr/>
        </p:nvSpPr>
        <p:spPr>
          <a:xfrm>
            <a:off x="7726680" y="1417320"/>
            <a:ext cx="3748680" cy="39772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955280" y="155448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Bagaimana tertangkapnya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7955280" y="1938600"/>
            <a:ext cx="3382920" cy="17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18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1.  Radar memancarkan chirp; pantulan dari dada diterima kembali.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8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2.  Range FFT memisahkan pantulan menurut jarak → dipilih bin jarak tempat subjek berada.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8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3.  Fase pada bin tersebut diekstrak, lalu di-unwrap agar kontinu.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8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4.  Relasi fase–perpindahan mengubahnya menjadi milimeter.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7955280" y="4617720"/>
            <a:ext cx="33829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</a:rPr>
              <a:t>φ(t) = 4π · d(t) / λ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7955280" y="4956120"/>
            <a:ext cx="33829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cadcfc"/>
                </a:solidFill>
                <a:latin typeface="Calibri"/>
              </a:rPr>
              <a:t>Perubahan fase sebesar satu panjang gelombang setara perpindahan submilimeter — inilah yang membuat detak jantung terukur.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567000" y="5623560"/>
            <a:ext cx="6949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c857"/>
                </a:solidFill>
                <a:latin typeface="Calibri"/>
              </a:rPr>
              <a:t>Napas 1–12 mm; detak jantung hanya 0,1–0,5 mm. Keduanya berada dalam satu sinyal yang sama.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94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Sinyal Itu Memang Gerak Dada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Perbandingan langsung: ada subjek versus ruangan kosong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" name="Picture 5" descr="f04_kosong.png"/>
          <p:cNvPicPr/>
          <p:nvPr/>
        </p:nvPicPr>
        <p:blipFill>
          <a:blip r:embed="rId2"/>
          <a:stretch/>
        </p:blipFill>
        <p:spPr>
          <a:xfrm>
            <a:off x="567000" y="1371600"/>
            <a:ext cx="7040520" cy="3959280"/>
          </a:xfrm>
          <a:prstGeom prst="rect">
            <a:avLst/>
          </a:prstGeom>
          <a:ln w="0">
            <a:noFill/>
          </a:ln>
        </p:spPr>
      </p:pic>
      <p:sp>
        <p:nvSpPr>
          <p:cNvPr id="98" name="Rounded Rectangle 6"/>
          <p:cNvSpPr/>
          <p:nvPr/>
        </p:nvSpPr>
        <p:spPr>
          <a:xfrm>
            <a:off x="7818120" y="1737360"/>
            <a:ext cx="3657240" cy="283428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8046720" y="18745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Yang perlu diperhatikan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8046720" y="2240280"/>
            <a:ext cx="3291480" cy="13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Skala sumbu tegak kedua panel IDENTIK.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Ada subjek: osilasi periodik jelas, amplitudo beberapa milimeter.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Ruangan kosong: rata. Tidak ada yang bisa dilaporkan, dan memang tidak ada.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9"/>
          <p:cNvSpPr/>
          <p:nvPr/>
        </p:nvSpPr>
        <p:spPr>
          <a:xfrm>
            <a:off x="8046720" y="4114800"/>
            <a:ext cx="329148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c857"/>
                </a:solidFill>
                <a:latin typeface="Calibri"/>
              </a:rPr>
              <a:t>Ini baru bukti kasat mata. Versinya yang terukur menyusul setelah SNR diperkenalkan.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03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Pengolahan: Dari Fase Mentah Menjadi Detak per Menit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Enam tahap pemrosesan sinyal digital, tanpa pembelajaran mesin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" name="Picture 5" descr="f05_pipeline.png"/>
          <p:cNvPicPr/>
          <p:nvPr/>
        </p:nvPicPr>
        <p:blipFill>
          <a:blip r:embed="rId2"/>
          <a:stretch/>
        </p:blipFill>
        <p:spPr>
          <a:xfrm>
            <a:off x="1234440" y="1280160"/>
            <a:ext cx="9692280" cy="4470840"/>
          </a:xfrm>
          <a:prstGeom prst="rect">
            <a:avLst/>
          </a:prstGeom>
          <a:ln w="0">
            <a:noFill/>
          </a:ln>
        </p:spPr>
      </p:pic>
      <p:sp>
        <p:nvSpPr>
          <p:cNvPr id="107" name="Rounded Rectangle 6"/>
          <p:cNvSpPr/>
          <p:nvPr/>
        </p:nvSpPr>
        <p:spPr>
          <a:xfrm>
            <a:off x="502920" y="5303520"/>
            <a:ext cx="10881000" cy="5025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685800" y="5394960"/>
            <a:ext cx="105152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1  Resampling anti-alias  →  2  Turunan fase  →  3  Reduksi napas 0,15–0,6 Hz  →  4  Pita jantung 0,8–2,0 Hz  →  5  Welch jendela 40 s + puncak  →  6  Median filter orde 9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02920" y="5897880"/>
            <a:ext cx="10881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adcfc"/>
                </a:solidFill>
                <a:latin typeface="Calibri"/>
              </a:rPr>
              <a:t>Jendela 40 detik dipilih DI MUKA: subjek istirahat sehingga tidak ada dinamika detak jantung yang hilang, sementara resolusi frekuensi membaik menjadi 1,5 bpm. Konsekuensinya — respons lambat terhadap perubahan detak jantung — dinyatakan sebagai keterbatasan.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11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Rasio Sinyal terhadap Derau (SNR)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Ukuran apakah detak jantung menonjol di atas derau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4" name="Picture 5" descr="f06_snr.png"/>
          <p:cNvPicPr/>
          <p:nvPr/>
        </p:nvPicPr>
        <p:blipFill>
          <a:blip r:embed="rId2"/>
          <a:stretch/>
        </p:blipFill>
        <p:spPr>
          <a:xfrm>
            <a:off x="1618560" y="1298520"/>
            <a:ext cx="8960760" cy="3299040"/>
          </a:xfrm>
          <a:prstGeom prst="rect">
            <a:avLst/>
          </a:prstGeom>
          <a:ln w="0">
            <a:noFill/>
          </a:ln>
        </p:spPr>
      </p:pic>
      <p:sp>
        <p:nvSpPr>
          <p:cNvPr id="115" name="Rounded Rectangle 6"/>
          <p:cNvSpPr/>
          <p:nvPr/>
        </p:nvSpPr>
        <p:spPr>
          <a:xfrm>
            <a:off x="685800" y="4800600"/>
            <a:ext cx="5303160" cy="15084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7"/>
          <p:cNvSpPr/>
          <p:nvPr/>
        </p:nvSpPr>
        <p:spPr>
          <a:xfrm>
            <a:off x="914400" y="4901040"/>
            <a:ext cx="4845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Definisi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8"/>
          <p:cNvSpPr/>
          <p:nvPr/>
        </p:nvSpPr>
        <p:spPr>
          <a:xfrm>
            <a:off x="914400" y="5230440"/>
            <a:ext cx="484596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SNR  =  daya spektral pada frekuensi detak jantung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           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÷  aras derau (median PSD pita 0,8–2,0 Hz)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914400" y="5897880"/>
            <a:ext cx="4845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SNR ≈ 1 berarti sinyal jantung setara derau.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Rounded Rectangle 10"/>
          <p:cNvSpPr/>
          <p:nvPr/>
        </p:nvSpPr>
        <p:spPr>
          <a:xfrm>
            <a:off x="6172200" y="4800600"/>
            <a:ext cx="5303160" cy="15084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11"/>
          <p:cNvSpPr/>
          <p:nvPr/>
        </p:nvSpPr>
        <p:spPr>
          <a:xfrm>
            <a:off x="6400800" y="4901040"/>
            <a:ext cx="48459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Mengapa vital — dan apa batasnya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12"/>
          <p:cNvSpPr/>
          <p:nvPr/>
        </p:nvSpPr>
        <p:spPr>
          <a:xfrm>
            <a:off x="6400800" y="5230440"/>
            <a:ext cx="4845960" cy="8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Menentukan apakah ADA yang bisa diekstrak. Pada SNR mendekati 1, tidak ada algoritma mana pun yang mampu memulihkannya.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ffc857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ffc857"/>
                </a:solidFill>
                <a:latin typeface="Calibri"/>
              </a:rPr>
              <a:t>Dihitung pada frekuensi EKG → memerlukan EKG. Karena itu SNR adalah ALAT DIAGNOSIS dan pedoman penempatan sensor, bukan gerbang kualitas lapangan.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23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Kontrol Negatif: Ruangan Kosong, Kini Terukur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Alat ukur yang jujur harus menyatakan tidak ada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7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" name="Picture 5" descr="f07_kontrol.png"/>
          <p:cNvPicPr/>
          <p:nvPr/>
        </p:nvPicPr>
        <p:blipFill>
          <a:blip r:embed="rId2"/>
          <a:stretch/>
        </p:blipFill>
        <p:spPr>
          <a:xfrm>
            <a:off x="822960" y="1371600"/>
            <a:ext cx="7863480" cy="3604680"/>
          </a:xfrm>
          <a:prstGeom prst="rect">
            <a:avLst/>
          </a:prstGeom>
          <a:ln w="0">
            <a:noFill/>
          </a:ln>
        </p:spPr>
      </p:pic>
      <p:sp>
        <p:nvSpPr>
          <p:cNvPr id="127" name="Rounded Rectangle 6"/>
          <p:cNvSpPr/>
          <p:nvPr/>
        </p:nvSpPr>
        <p:spPr>
          <a:xfrm>
            <a:off x="8915400" y="1554480"/>
            <a:ext cx="2559960" cy="35658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9144000" y="1691640"/>
            <a:ext cx="2194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Hasil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9144000" y="2057400"/>
            <a:ext cx="21942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ff6b6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ff6b6b"/>
                </a:solidFill>
                <a:latin typeface="Calibri"/>
              </a:rPr>
              <a:t>Ruangan kosong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b="0" lang="en-US" sz="1200" spc="-1" strike="noStrike">
                <a:solidFill>
                  <a:srgbClr val="ff6b6b"/>
                </a:solidFill>
                <a:latin typeface="Calibri"/>
              </a:rPr>
              <a:t>SNR napas 2,0 – 3,2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b="0" lang="en-US" sz="1200" spc="-1" strike="noStrike">
                <a:solidFill>
                  <a:srgbClr val="6bcb77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6bcb77"/>
                </a:solidFill>
                <a:latin typeface="Calibri"/>
              </a:rPr>
              <a:t>Ada subjek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b="0" lang="en-US" sz="1200" spc="-1" strike="noStrike">
                <a:solidFill>
                  <a:srgbClr val="6bcb77"/>
                </a:solidFill>
                <a:latin typeface="Calibri"/>
              </a:rPr>
              <a:t>SNR napas 4.225 – 41.381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Pemisahan 1.315×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tanpa tumpang tindih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9"/>
          <p:cNvSpPr/>
          <p:nvPr/>
        </p:nvSpPr>
        <p:spPr>
          <a:xfrm>
            <a:off x="822960" y="5623560"/>
            <a:ext cx="7863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adcfc"/>
                </a:solidFill>
                <a:latin typeface="Calibri"/>
              </a:rPr>
              <a:t>Deteksi kehadiran memakai NAPAS, bukan detak jantung: gerak dada akibat napas 1–12 mm, jauh di atas aras derau. Karena itu penentuan ada-tidaknya subjek TIDAK memerlukan EKG.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32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Cara Menilai: MAPE dan Standar ANSI/CTA-2065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Satu angka, satu ambang, ditetapkan pihak ketiga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8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Rounded Rectangle 5"/>
          <p:cNvSpPr/>
          <p:nvPr/>
        </p:nvSpPr>
        <p:spPr>
          <a:xfrm>
            <a:off x="822960" y="1554480"/>
            <a:ext cx="10515240" cy="137124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097280" y="1783080"/>
            <a:ext cx="10058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</a:rPr>
              <a:t>MAPE  =  (100 / n) · Σ | HR(radar) − HR(EKG) |  ÷  HR(EKG)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1097280" y="2377440"/>
            <a:ext cx="10058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adcfc"/>
                </a:solidFill>
                <a:latin typeface="Calibri"/>
              </a:rPr>
              <a:t>Galat dinyatakan sebagai PERSENTASE terhadap detak jantung sebenarnya, sehingga meleset 5 bpm pada orang ber-HR 60 tidak dianggap sama ringannya dengan meleset 5 bpm pada orang ber-HR 100.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Rounded Rectangle 8"/>
          <p:cNvSpPr/>
          <p:nvPr/>
        </p:nvSpPr>
        <p:spPr>
          <a:xfrm>
            <a:off x="822960" y="3154680"/>
            <a:ext cx="5120280" cy="26514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9"/>
          <p:cNvSpPr/>
          <p:nvPr/>
        </p:nvSpPr>
        <p:spPr>
          <a:xfrm>
            <a:off x="1051560" y="3291840"/>
            <a:ext cx="4663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Standar penilaian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1051560" y="3657600"/>
            <a:ext cx="46630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ANSI/CTA-2065 — Physical Activity Monitoring for Heart Rate, Consumer Technology Association (2018).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Alat dinyatakan VALID bila MAPE &lt; 10% terhadap EKG.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Dipakai luas pada literatur validasi perangkat pemantau detak jantung.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Rounded Rectangle 11"/>
          <p:cNvSpPr/>
          <p:nvPr/>
        </p:nvSpPr>
        <p:spPr>
          <a:xfrm>
            <a:off x="6217920" y="3154680"/>
            <a:ext cx="5120280" cy="26514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6446520" y="3291840"/>
            <a:ext cx="4663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Mengapa ambang pihak ketiga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13"/>
          <p:cNvSpPr/>
          <p:nvPr/>
        </p:nvSpPr>
        <p:spPr>
          <a:xfrm>
            <a:off x="6446520" y="3657600"/>
            <a:ext cx="4663080" cy="10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</a:rPr>
              <a:t>Ambang tidak ditentukan sendiri oleh peneliti, sehingga tidak dapat disetel agar hasil terlihat baik.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Pada detak jantung rata-rata ±78 bpm, 10% setara ±7,8 bpm.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Sebagian studi memakai kriteria lebih ketat (±5%).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45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Hasil: MAPE dan SNR Sepuluh Subjek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8 dari 10 subjek memenuhi standar; MAPE rata-rata 6,5%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9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8" name="Picture 5" descr="f09_mape.png"/>
          <p:cNvPicPr/>
          <p:nvPr/>
        </p:nvPicPr>
        <p:blipFill>
          <a:blip r:embed="rId2"/>
          <a:stretch/>
        </p:blipFill>
        <p:spPr>
          <a:xfrm>
            <a:off x="457200" y="1371600"/>
            <a:ext cx="6949080" cy="28429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49" name="Table 6"/>
          <p:cNvGraphicFramePr/>
          <p:nvPr/>
        </p:nvGraphicFramePr>
        <p:xfrm>
          <a:off x="7635240" y="1371600"/>
          <a:ext cx="3977280" cy="4205880"/>
        </p:xfrm>
        <a:graphic>
          <a:graphicData uri="http://schemas.openxmlformats.org/drawingml/2006/table">
            <a:tbl>
              <a:tblPr/>
              <a:tblGrid>
                <a:gridCol w="795240"/>
                <a:gridCol w="795240"/>
                <a:gridCol w="795240"/>
                <a:gridCol w="795240"/>
                <a:gridCol w="795240"/>
              </a:tblGrid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Subjek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HR EKG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SNR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MAPE %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  <a:endParaRPr b="0" lang="en-US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b2a6b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S09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84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6,70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1,3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S01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89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9,32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1,7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S07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65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9,01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1,9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S08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75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5,66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2,3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S02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77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7,41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3,4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S05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68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4,21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4,4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S10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61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5,88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7,9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S03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79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2,38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9,7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6bcb77"/>
                          </a:solidFill>
                          <a:latin typeface="Calibri"/>
                        </a:rPr>
                        <a:t>Lolos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S06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76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1,60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12,5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Gagal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6204d"/>
                    </a:solidFill>
                  </a:tcPr>
                </a:tc>
              </a:tr>
              <a:tr h="382320"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S04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76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1,72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20,0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  <a:tc>
                  <a:txBody>
                    <a:bodyPr lIns="7308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6b6b"/>
                          </a:solidFill>
                          <a:latin typeface="Calibri"/>
                        </a:rPr>
                        <a:t>Gagal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1a2559"/>
                    </a:solidFill>
                  </a:tcPr>
                </a:tc>
              </a:tr>
            </a:tbl>
          </a:graphicData>
        </a:graphic>
      </p:graphicFrame>
      <p:sp>
        <p:nvSpPr>
          <p:cNvPr id="150" name="TextBox 7"/>
          <p:cNvSpPr/>
          <p:nvPr/>
        </p:nvSpPr>
        <p:spPr>
          <a:xfrm>
            <a:off x="457200" y="5715000"/>
            <a:ext cx="704052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ffc857"/>
                </a:solidFill>
                <a:latin typeface="Calibri"/>
              </a:rPr>
              <a:t>Dua yang gagal (S04, S06) justru ber-SNR terendah (&lt; 1,8). Seluruh yang lolos ber-SNR ≥ 2,38. Pemisahannya bersih — dan itu mengarahkan ke slide berikutnya.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52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Kegagalan Tidak Acak — Diprediksi oleh SNR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Korelasi log(SNR) terhadap log(MAPE) = -0,901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" name="Picture 5" descr="f10_scatter.png"/>
          <p:cNvPicPr/>
          <p:nvPr/>
        </p:nvPicPr>
        <p:blipFill>
          <a:blip r:embed="rId2"/>
          <a:stretch/>
        </p:blipFill>
        <p:spPr>
          <a:xfrm>
            <a:off x="685800" y="1371600"/>
            <a:ext cx="7680600" cy="3883680"/>
          </a:xfrm>
          <a:prstGeom prst="rect">
            <a:avLst/>
          </a:prstGeom>
          <a:ln w="0">
            <a:noFill/>
          </a:ln>
        </p:spPr>
      </p:pic>
      <p:sp>
        <p:nvSpPr>
          <p:cNvPr id="156" name="Rounded Rectangle 6"/>
          <p:cNvSpPr/>
          <p:nvPr/>
        </p:nvSpPr>
        <p:spPr>
          <a:xfrm>
            <a:off x="8595360" y="1645920"/>
            <a:ext cx="2880000" cy="356580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7"/>
          <p:cNvSpPr/>
          <p:nvPr/>
        </p:nvSpPr>
        <p:spPr>
          <a:xfrm>
            <a:off x="8823960" y="1783080"/>
            <a:ext cx="25142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Bacaan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8823960" y="2148840"/>
            <a:ext cx="2514240" cy="15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Hubungan sangat teratur pada rentang dua orde besaran.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Ambang SNR ≈ 1,8 memisahkan lolos dari gagal.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ffc857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ffc857"/>
                </a:solidFill>
                <a:latin typeface="Calibri"/>
              </a:rPr>
              <a:t>SNR diukur TANPA melihat MAPE lebih dulu, sehingga bukan penjelasan yang dibuat belakangan.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685800" y="5623560"/>
            <a:ext cx="768060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Namun korelasi belum membuktikan sebab-akibat. Pembuktiannya ada pada slide berikutnya.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61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Bukti Kausal: Eksperimen Jarak Terkendali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Subjek sama, pengaturan sama — hanya jarak yang diubah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4" name="Picture 5" descr="f11_jarak.png"/>
          <p:cNvPicPr/>
          <p:nvPr/>
        </p:nvPicPr>
        <p:blipFill>
          <a:blip r:embed="rId2"/>
          <a:stretch/>
        </p:blipFill>
        <p:spPr>
          <a:xfrm>
            <a:off x="777240" y="1463040"/>
            <a:ext cx="8229240" cy="3325320"/>
          </a:xfrm>
          <a:prstGeom prst="rect">
            <a:avLst/>
          </a:prstGeom>
          <a:ln w="0">
            <a:noFill/>
          </a:ln>
        </p:spPr>
      </p:pic>
      <p:sp>
        <p:nvSpPr>
          <p:cNvPr id="165" name="Rounded Rectangle 6"/>
          <p:cNvSpPr/>
          <p:nvPr/>
        </p:nvSpPr>
        <p:spPr>
          <a:xfrm>
            <a:off x="9235440" y="1737360"/>
            <a:ext cx="2239920" cy="320004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7"/>
          <p:cNvSpPr/>
          <p:nvPr/>
        </p:nvSpPr>
        <p:spPr>
          <a:xfrm>
            <a:off x="9418320" y="1874520"/>
            <a:ext cx="1874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Dasar fisis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8"/>
          <p:cNvSpPr/>
          <p:nvPr/>
        </p:nvSpPr>
        <p:spPr>
          <a:xfrm>
            <a:off x="9418320" y="2240280"/>
            <a:ext cx="187416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</a:rPr>
              <a:t>Daya pantul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</a:rPr>
              <a:t>∝ </a:t>
            </a:r>
            <a:r>
              <a:rPr b="1" lang="en-US" sz="1600" spc="-1" strike="noStrike">
                <a:solidFill>
                  <a:srgbClr val="ffffff"/>
                </a:solidFill>
                <a:latin typeface="Cambria"/>
              </a:rPr>
              <a:t>1 / R⁴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9"/>
          <p:cNvSpPr/>
          <p:nvPr/>
        </p:nvSpPr>
        <p:spPr>
          <a:xfrm>
            <a:off x="9418320" y="2971800"/>
            <a:ext cx="187416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Jarak menjadi dua kali lipat → daya pantul 16 kali lebih kecil.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Terukur: SNR turun dari 2,99 menjadi 1,36, dan MAPE melonjak dari 6,4% menjadi 56,1%.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10"/>
          <p:cNvSpPr/>
          <p:nvPr/>
        </p:nvSpPr>
        <p:spPr>
          <a:xfrm>
            <a:off x="777240" y="5669280"/>
            <a:ext cx="82292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ffc857"/>
                </a:solidFill>
                <a:latin typeface="Calibri"/>
              </a:rPr>
              <a:t>Karena hanya jarak yang berubah, perbedaan hasil tidak dapat dijelaskan oleh perbedaan individu. Ini menaikkan status SNR dari sekadar berkorelasi menjadi penyebab.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71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Uji Peringkat Frekuensi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Apakah frekuensi EKG yang benar memang menonjol di spektrum radar?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4" name="Picture 5" descr="f12_rank.png"/>
          <p:cNvPicPr/>
          <p:nvPr/>
        </p:nvPicPr>
        <p:blipFill>
          <a:blip r:embed="rId2"/>
          <a:stretch/>
        </p:blipFill>
        <p:spPr>
          <a:xfrm>
            <a:off x="685800" y="1417320"/>
            <a:ext cx="7863480" cy="3512160"/>
          </a:xfrm>
          <a:prstGeom prst="rect">
            <a:avLst/>
          </a:prstGeom>
          <a:ln w="0">
            <a:noFill/>
          </a:ln>
        </p:spPr>
      </p:pic>
      <p:sp>
        <p:nvSpPr>
          <p:cNvPr id="175" name="Rounded Rectangle 6"/>
          <p:cNvSpPr/>
          <p:nvPr/>
        </p:nvSpPr>
        <p:spPr>
          <a:xfrm>
            <a:off x="8732520" y="1600200"/>
            <a:ext cx="2742840" cy="365724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7"/>
          <p:cNvSpPr/>
          <p:nvPr/>
        </p:nvSpPr>
        <p:spPr>
          <a:xfrm>
            <a:off x="8961120" y="1737360"/>
            <a:ext cx="2377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c857"/>
                </a:solidFill>
                <a:latin typeface="Calibri"/>
              </a:rPr>
              <a:t>Cara ujinya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8"/>
          <p:cNvSpPr/>
          <p:nvPr/>
        </p:nvSpPr>
        <p:spPr>
          <a:xfrm>
            <a:off x="8961120" y="2103120"/>
            <a:ext cx="2377080" cy="19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1.  Ambil frekuensi detak jantung SEBENARNYA dari EKG.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2.  Cari peringkat bin frekuensi itu di dalam spektrum fase radar.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3.  Bila radar tidak menangkap apa pun, peringkatnya acak → median 0,500.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6bcb77"/>
                </a:solidFill>
                <a:latin typeface="Calibri"/>
              </a:rPr>
              <a:t>  </a:t>
            </a:r>
            <a:r>
              <a:rPr b="0" lang="en-US" sz="1100" spc="-1" strike="noStrike">
                <a:solidFill>
                  <a:srgbClr val="6bcb77"/>
                </a:solidFill>
                <a:latin typeface="Calibri"/>
              </a:rPr>
              <a:t>Teramati: 0,125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100" spc="-1" strike="noStrike">
                <a:solidFill>
                  <a:srgbClr val="6bcb77"/>
                </a:solidFill>
                <a:latin typeface="Calibri"/>
              </a:rPr>
              <a:t>dari 402 jendela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685800" y="5669280"/>
            <a:ext cx="786348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ffc857"/>
                </a:solidFill>
                <a:latin typeface="Calibri"/>
              </a:rPr>
              <a:t>Diuji pada sinyal fase yang BELUM ditapis pita jantung, sehingga yang dinilai adalah kandungan sinyalnya — bukan kemampuan penapis yang dirancang sendiri.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80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Korelasi: Yang Sah dan Yang Tidak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Antar-subjek r = +0,82; korelasi dalam-subjek tidak berlaku pada data ini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3" name="Picture 5" descr="f13_korelasi.png"/>
          <p:cNvPicPr/>
          <p:nvPr/>
        </p:nvPicPr>
        <p:blipFill>
          <a:blip r:embed="rId2"/>
          <a:stretch/>
        </p:blipFill>
        <p:spPr>
          <a:xfrm>
            <a:off x="640080" y="1371600"/>
            <a:ext cx="9692280" cy="3677760"/>
          </a:xfrm>
          <a:prstGeom prst="rect">
            <a:avLst/>
          </a:prstGeom>
          <a:ln w="0">
            <a:noFill/>
          </a:ln>
        </p:spPr>
      </p:pic>
      <p:sp>
        <p:nvSpPr>
          <p:cNvPr id="184" name="Rounded Rectangle 6"/>
          <p:cNvSpPr/>
          <p:nvPr/>
        </p:nvSpPr>
        <p:spPr>
          <a:xfrm>
            <a:off x="640080" y="4800600"/>
            <a:ext cx="5348880" cy="14169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TextBox 7"/>
          <p:cNvSpPr/>
          <p:nvPr/>
        </p:nvSpPr>
        <p:spPr>
          <a:xfrm>
            <a:off x="868680" y="4919400"/>
            <a:ext cx="489168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c857"/>
                </a:solidFill>
                <a:latin typeface="Calibri"/>
              </a:rPr>
              <a:t>Mengapa dalam-subjek tidak sah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8"/>
          <p:cNvSpPr/>
          <p:nvPr/>
        </p:nvSpPr>
        <p:spPr>
          <a:xfrm>
            <a:off x="868680" y="5230440"/>
            <a:ext cx="489168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Seluruh subjek duduk diam, sehingga simpangan baku detak jantung dalam satu sesi hanya 0,9–4,2 bpm. Korelasi dinormalkan terhadap ragam: bila targetnya nyaris konstan, estimator SEMPURNA sekalipun hanya mencapai r ≈ 0,60.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ounded Rectangle 9"/>
          <p:cNvSpPr/>
          <p:nvPr/>
        </p:nvSpPr>
        <p:spPr>
          <a:xfrm>
            <a:off x="6172200" y="4800600"/>
            <a:ext cx="5074560" cy="14169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400800" y="4919400"/>
            <a:ext cx="461736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50" spc="-1" strike="noStrike">
                <a:solidFill>
                  <a:srgbClr val="ffc857"/>
                </a:solidFill>
                <a:latin typeface="Calibri"/>
              </a:rPr>
              <a:t>Karena itu dipakai korelasi antar-subjek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1"/>
          <p:cNvSpPr/>
          <p:nvPr/>
        </p:nvSpPr>
        <p:spPr>
          <a:xfrm>
            <a:off x="6400800" y="5230440"/>
            <a:ext cx="4617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Menguji hal yang berbeda: apakah radar dapat MEMBEDAKAN orang ber-HR tinggi dari yang rendah. Hasilnya r = +0,82 pada 10 subjek — dan inilah pertanyaan yang relevan untuk data ini.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191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Keterbatasan Penelitian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Dinyatakan sendiri, sebagai batas keberlakuan hasil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5"/>
          <p:cNvSpPr/>
          <p:nvPr/>
        </p:nvSpPr>
        <p:spPr>
          <a:xfrm>
            <a:off x="777240" y="1600200"/>
            <a:ext cx="10606680" cy="120672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1051560" y="1719000"/>
            <a:ext cx="10058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50" spc="-1" strike="noStrike">
                <a:solidFill>
                  <a:srgbClr val="ffc857"/>
                </a:solidFill>
                <a:latin typeface="Calibri"/>
              </a:rPr>
              <a:t>a.  Tidak ada variasi detak jantung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7"/>
          <p:cNvSpPr/>
          <p:nvPr/>
        </p:nvSpPr>
        <p:spPr>
          <a:xfrm>
            <a:off x="1051560" y="2057400"/>
            <a:ext cx="100580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Seluruh subjek direkam dalam kondisi istirahat. Kemampuan metode melacak PERUBAHAN detak jantung tidak dapat dibuktikan maupun dibantah dengan data ini. Menambah subjek dengan protokol yang sama tidak menyelesaikannya — yang diperlukan protokol istirahat–beban–pemulihan.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Rounded Rectangle 8"/>
          <p:cNvSpPr/>
          <p:nvPr/>
        </p:nvSpPr>
        <p:spPr>
          <a:xfrm>
            <a:off x="777240" y="3081600"/>
            <a:ext cx="10606680" cy="120672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9"/>
          <p:cNvSpPr/>
          <p:nvPr/>
        </p:nvSpPr>
        <p:spPr>
          <a:xfrm>
            <a:off x="1051560" y="3200400"/>
            <a:ext cx="10058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50" spc="-1" strike="noStrike">
                <a:solidFill>
                  <a:srgbClr val="ffc857"/>
                </a:solidFill>
                <a:latin typeface="Calibri"/>
              </a:rPr>
              <a:t>b.  Variabilitas detak jantung (HRV) belum layak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1051560" y="3538800"/>
            <a:ext cx="100580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Deteksi detak-per-detak hanya mencapai recall ±61% terhadap puncak R EKG, dan RMSSD hasil radar sekitar empat kali nilai EKG. Penyebabnya batas fisik — SNR dan presisi waktu 20 ms per sampel — bukan pilihan algoritma. Karena itu tidak dapat diperbaiki dengan mengganti estimator.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Rounded Rectangle 11"/>
          <p:cNvSpPr/>
          <p:nvPr/>
        </p:nvSpPr>
        <p:spPr>
          <a:xfrm>
            <a:off x="777240" y="4563000"/>
            <a:ext cx="10606680" cy="120672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12"/>
          <p:cNvSpPr/>
          <p:nvPr/>
        </p:nvSpPr>
        <p:spPr>
          <a:xfrm>
            <a:off x="1051560" y="4681800"/>
            <a:ext cx="10058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50" spc="-1" strike="noStrike">
                <a:solidFill>
                  <a:srgbClr val="ffc857"/>
                </a:solidFill>
                <a:latin typeface="Calibri"/>
              </a:rPr>
              <a:t>c.  SNR memerlukan EKG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Box 13"/>
          <p:cNvSpPr/>
          <p:nvPr/>
        </p:nvSpPr>
        <p:spPr>
          <a:xfrm>
            <a:off x="1051560" y="5020200"/>
            <a:ext cx="100580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cadcfc"/>
                </a:solidFill>
                <a:latin typeface="Calibri"/>
              </a:rPr>
              <a:t>Kriteria SNR dihitung pada frekuensi EKG, sehingga berfungsi sebagai alat diagnosis dan pedoman penempatan sensor, belum sebagai gerbang kualitas di lapangan. Deteksi KEHADIRAN melalui napas sudah tidak memerlukan EKG; gerbang kualitas per-estimasi tanpa EKG menjadi penelitian lanjutan.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Picture 1" descr="image.png"/>
          <p:cNvPicPr/>
          <p:nvPr/>
        </p:nvPicPr>
        <p:blipFill>
          <a:blip r:embed="rId1"/>
          <a:stretch/>
        </p:blipFill>
        <p:spPr>
          <a:xfrm>
            <a:off x="384120" y="292680"/>
            <a:ext cx="280080" cy="383760"/>
          </a:xfrm>
          <a:prstGeom prst="rect">
            <a:avLst/>
          </a:prstGeom>
          <a:ln w="0">
            <a:noFill/>
          </a:ln>
        </p:spPr>
      </p:pic>
      <p:sp>
        <p:nvSpPr>
          <p:cNvPr id="204" name="TextBox 2"/>
          <p:cNvSpPr/>
          <p:nvPr/>
        </p:nvSpPr>
        <p:spPr>
          <a:xfrm>
            <a:off x="960120" y="274320"/>
            <a:ext cx="10271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</a:rPr>
              <a:t>Kesimpulan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960120" y="868680"/>
            <a:ext cx="1027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350" spc="-1" strike="noStrike">
                <a:solidFill>
                  <a:srgbClr val="cadcfc"/>
                </a:solidFill>
                <a:latin typeface="Calibri"/>
              </a:rPr>
              <a:t>Menjawab tiga rumusan masalah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Box 4"/>
          <p:cNvSpPr/>
          <p:nvPr/>
        </p:nvSpPr>
        <p:spPr>
          <a:xfrm>
            <a:off x="11414520" y="6355080"/>
            <a:ext cx="456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15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5"/>
          <p:cNvSpPr/>
          <p:nvPr/>
        </p:nvSpPr>
        <p:spPr>
          <a:xfrm>
            <a:off x="777240" y="1463040"/>
            <a:ext cx="10606680" cy="14169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1051560" y="1572840"/>
            <a:ext cx="100580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1.  Apakah sinyal fase mengandung informasi detak jantung?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Box 7"/>
          <p:cNvSpPr/>
          <p:nvPr/>
        </p:nvSpPr>
        <p:spPr>
          <a:xfrm>
            <a:off x="1051560" y="1892880"/>
            <a:ext cx="10058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550" spc="-1" strike="noStrike">
                <a:solidFill>
                  <a:srgbClr val="6bcb77"/>
                </a:solidFill>
                <a:latin typeface="Calibri"/>
              </a:rPr>
              <a:t>YA — dibuktikan secara independen.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8"/>
          <p:cNvSpPr/>
          <p:nvPr/>
        </p:nvSpPr>
        <p:spPr>
          <a:xfrm>
            <a:off x="1051560" y="2267640"/>
            <a:ext cx="100580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Puncak spektrum jatuh pada frekuensi EKG; peringkat ternormalisasi 0,125 dari 402 jendela (acak = 0,500); korelasi antar-subjek +0,82; dan kontrol negatif memisahkan ruangan kosong dari berisi sebesar 1.315×.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9"/>
          <p:cNvSpPr/>
          <p:nvPr/>
        </p:nvSpPr>
        <p:spPr>
          <a:xfrm>
            <a:off x="777240" y="3090600"/>
            <a:ext cx="10606680" cy="14169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10"/>
          <p:cNvSpPr/>
          <p:nvPr/>
        </p:nvSpPr>
        <p:spPr>
          <a:xfrm>
            <a:off x="1051560" y="3200400"/>
            <a:ext cx="100580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2.  Seberapa akurat terhadap ANSI/CTA-2065?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11"/>
          <p:cNvSpPr/>
          <p:nvPr/>
        </p:nvSpPr>
        <p:spPr>
          <a:xfrm>
            <a:off x="1051560" y="3520440"/>
            <a:ext cx="10058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550" spc="-1" strike="noStrike">
                <a:solidFill>
                  <a:srgbClr val="6bcb77"/>
                </a:solidFill>
                <a:latin typeface="Calibri"/>
              </a:rPr>
              <a:t>8 dari 10 subjek memenuhi standar.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1051560" y="3895200"/>
            <a:ext cx="100580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MAPE rata-rata 6,5% dan MAE 4,8 bpm, seluruhnya dicapai dengan pemrosesan sinyal digital murni tanpa pembelajaran mesin.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Rounded Rectangle 13"/>
          <p:cNvSpPr/>
          <p:nvPr/>
        </p:nvSpPr>
        <p:spPr>
          <a:xfrm>
            <a:off x="777240" y="4718160"/>
            <a:ext cx="10606680" cy="1416960"/>
          </a:xfrm>
          <a:prstGeom prst="roundRect">
            <a:avLst>
              <a:gd name="adj" fmla="val 16667"/>
            </a:avLst>
          </a:prstGeom>
          <a:solidFill>
            <a:srgbClr val="16204d"/>
          </a:solidFill>
          <a:ln w="12700">
            <a:solidFill>
              <a:srgbClr val="2e3b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1051560" y="4827960"/>
            <a:ext cx="100580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3.  Faktor fisik apa yang menentukan keberhasilan?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Box 15"/>
          <p:cNvSpPr/>
          <p:nvPr/>
        </p:nvSpPr>
        <p:spPr>
          <a:xfrm>
            <a:off x="1051560" y="5148000"/>
            <a:ext cx="10058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550" spc="-1" strike="noStrike">
                <a:solidFill>
                  <a:srgbClr val="6bcb77"/>
                </a:solidFill>
                <a:latin typeface="Calibri"/>
              </a:rPr>
              <a:t>SNR sinyal jantung, dengan ambang ≈ 1,8.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16"/>
          <p:cNvSpPr/>
          <p:nvPr/>
        </p:nvSpPr>
        <p:spPr>
          <a:xfrm>
            <a:off x="1051560" y="5523120"/>
            <a:ext cx="100580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ffffff"/>
                </a:solidFill>
                <a:latin typeface="Calibri"/>
              </a:rPr>
              <a:t>Korelasi log(SNR) terhadap log(MAPE) = -0,901, dan dibuktikan secara kausal melalui eksperimen jarak terkendali (6,4% pada 50 cm versus 56,1% pada 100 cm, subjek dan pengaturan sama).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Box 17"/>
          <p:cNvSpPr/>
          <p:nvPr/>
        </p:nvSpPr>
        <p:spPr>
          <a:xfrm>
            <a:off x="777240" y="6355080"/>
            <a:ext cx="10606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50" spc="-1" strike="noStrike">
                <a:solidFill>
                  <a:srgbClr val="ffc857"/>
                </a:solidFill>
                <a:latin typeface="Calibri"/>
              </a:rPr>
              <a:t>Kontribusi:  K1 pipeline DSP tervalidasi standar   ·   K2 kriteria kelayakan berbasis SNR dan karakterisasi jarak   ·   K3 koreksi metodologi evaluasi korelasi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Picture 1" descr="uii_logo.png"/>
          <p:cNvPicPr/>
          <p:nvPr/>
        </p:nvPicPr>
        <p:blipFill>
          <a:blip r:embed="rId1"/>
          <a:stretch/>
        </p:blipFill>
        <p:spPr>
          <a:xfrm>
            <a:off x="640080" y="502920"/>
            <a:ext cx="913680" cy="1251720"/>
          </a:xfrm>
          <a:prstGeom prst="rect">
            <a:avLst/>
          </a:prstGeom>
          <a:ln w="0">
            <a:noFill/>
          </a:ln>
        </p:spPr>
      </p:pic>
      <p:sp>
        <p:nvSpPr>
          <p:cNvPr id="221" name="TextBox 2"/>
          <p:cNvSpPr/>
          <p:nvPr/>
        </p:nvSpPr>
        <p:spPr>
          <a:xfrm>
            <a:off x="0" y="2834640"/>
            <a:ext cx="1219104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mbria"/>
              </a:rPr>
              <a:t>Terima Kasih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3"/>
          <p:cNvSpPr/>
          <p:nvPr/>
        </p:nvSpPr>
        <p:spPr>
          <a:xfrm>
            <a:off x="0" y="3703320"/>
            <a:ext cx="121910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600" spc="-1" strike="noStrike">
                <a:solidFill>
                  <a:srgbClr val="cadcfc"/>
                </a:solidFill>
                <a:latin typeface="Calibri"/>
              </a:rPr>
              <a:t>Pertanyaan dan diskusi dipersilakan.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Box 4"/>
          <p:cNvSpPr/>
          <p:nvPr/>
        </p:nvSpPr>
        <p:spPr>
          <a:xfrm>
            <a:off x="0" y="6035040"/>
            <a:ext cx="12191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cadcfc"/>
                </a:solidFill>
                <a:latin typeface="Calibri"/>
              </a:rPr>
              <a:t>Rona Regen  —  23925006  —  Universitas Islam Indonesia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2026-07-19T20:55:45Z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