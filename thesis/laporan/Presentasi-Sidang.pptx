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i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005840" cy="13776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48840"/>
            <a:ext cx="10332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Estimasi Detak Jantung Berbasis Sinyal Fase Mentah Radar FMCW TI IWR1443BOOST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CADCFC"/>
                </a:solidFill>
                <a:latin typeface="Calibri"/>
              </a:rPr>
              <a:t>Rancangan Pipeline Tervalidasi Standar ANSI/CTA-2065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9204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ADCFC"/>
                </a:solidFill>
                <a:latin typeface="Calibri"/>
              </a:rPr>
              <a:t>Sidang Tesis — Program Magister Teknik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235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Rona Regen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23925006  |  Program Studi Rekayasa Elektro, Program Magister  |  Universitas Islam Indonesia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B6B76"/>
                </a:solidFill>
                <a:latin typeface="Calibri"/>
              </a:rPr>
              <a:t>M1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mbria"/>
              </a:rPr>
              <a:t>Pertanyaan Penelitian dan Batasannya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6B6B76"/>
                </a:solidFill>
                <a:latin typeface="Calibri"/>
              </a:rPr>
              <a:t>Satu pertanyaan, satu jawaban. Dinyatakan terhadap ECG dan trivial baseline.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Pertanyaan Inti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54864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1">
                <a:solidFill>
                  <a:srgbClr val="333333"/>
                </a:solidFill>
                <a:latin typeface="Cambria"/>
              </a:rPr>
              <a:t>"Apakah sinyal fase mentah radar FMCW TI IWR1443BOOST (unwrapPhasePeak_mm) mengandung detak jantung yang dapat diekstraksi akurat dan divalidasi terhadap standar ANSI/CTA-2065 (MAPE &lt; 10%)?"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51960"/>
            <a:ext cx="5394960" cy="2148840"/>
          </a:xfrm>
          <a:prstGeom prst="roundRect">
            <a:avLst/>
          </a:prstGeom>
          <a:solidFill>
            <a:srgbClr val="F7F8FB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48056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Char char="•"/>
            </a:pPr>
            <a:r>
              <a:rPr sz="1350">
                <a:solidFill>
                  <a:srgbClr val="333333"/>
                </a:solidFill>
                <a:latin typeface="Calibri"/>
              </a:rPr>
              <a:t>Yang dievaluasi: sinyal FASE MENTAH, diambil sebelum filter TI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350">
                <a:solidFill>
                  <a:srgbClr val="333333"/>
                </a:solidFill>
                <a:latin typeface="Calibri"/>
              </a:rPr>
              <a:t>Pembanding kecukupan: trivial baseline (bukan output BPM alat)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350">
                <a:solidFill>
                  <a:srgbClr val="333333"/>
                </a:solidFill>
                <a:latin typeface="Calibri"/>
              </a:rPr>
              <a:t>Kondisi subjek: istirahat (std HR 0,9-4,2 bpm)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350">
                <a:solidFill>
                  <a:srgbClr val="333333"/>
                </a:solidFill>
                <a:latin typeface="Calibri"/>
              </a:rPr>
              <a:t>Standar: ANSI/CTA-2065, MAPE &lt; 10%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120640" cy="43891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2402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Batasan Masalah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788920"/>
            <a:ext cx="45262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300">
                <a:solidFill>
                  <a:srgbClr val="FFFFFF"/>
                </a:solidFill>
                <a:latin typeface="Calibri"/>
              </a:rPr>
              <a:t>Akuisisi 50 fps — menguntungkan sinyal fase (resolusi waktu halus), namun di luar rancangan filter TI (referensi 20 fps)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300">
                <a:solidFill>
                  <a:srgbClr val="FFFFFF"/>
                </a:solidFill>
                <a:latin typeface="Calibri"/>
              </a:rPr>
              <a:t>Karena itu: kolom BPM turunan TI TIDAK dinilai pada penelitian ini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300">
                <a:solidFill>
                  <a:srgbClr val="FFFFFF"/>
                </a:solidFill>
                <a:latin typeface="Calibri"/>
              </a:rPr>
              <a:t>Yang dievaluasi hanya kelayakan SINYAL FASE MENTAH sebagai basis estimasi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300">
                <a:solidFill>
                  <a:srgbClr val="FFFFFF"/>
                </a:solidFill>
                <a:latin typeface="Calibri"/>
              </a:rPr>
              <a:t>Kondisi istirahat → yang diukur: ketepatan HR rata-rata per jendela, bukan pelacakan perubahan 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6B76"/>
                </a:solidFill>
                <a:latin typeface="Calibri"/>
              </a:rPr>
              <a:t>M1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B6B76"/>
                </a:solidFill>
                <a:latin typeface="Calibri"/>
              </a:rPr>
              <a:t>M2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mbria"/>
              </a:rPr>
              <a:t>Metode: dari Sinyal Fase Mentah Menjadi Angka Detak Jantung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6B6B76"/>
                </a:solidFill>
                <a:latin typeface="Calibri"/>
              </a:rPr>
              <a:t>Murni pemrosesan sinyal (DSP), tanpa pembelajaran mesin.</a:t>
            </a:r>
          </a:p>
        </p:txBody>
      </p:sp>
      <p:pic>
        <p:nvPicPr>
          <p:cNvPr id="5" name="Picture 4" descr="met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988" y="2011680"/>
            <a:ext cx="7599719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5532120"/>
            <a:ext cx="10908792" cy="1005840"/>
          </a:xfrm>
          <a:prstGeom prst="roundRect">
            <a:avLst/>
          </a:prstGeom>
          <a:solidFill>
            <a:srgbClr val="F7F8FB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66928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33333"/>
                </a:solidFill>
                <a:latin typeface="Calibri"/>
              </a:rPr>
              <a:t>Rantai proses: resample anti-alias  →  turunan fase (menekan drift, menguatkan jantung)  →  buang sisa napas  →  bandpass 0,8-2,0 Hz  →  Welch PSD per jendela 40 detik  →  medfilt 9 titik  →  estimasi HR per jendela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6B76"/>
                </a:solidFill>
                <a:latin typeface="Calibri"/>
              </a:rPr>
              <a:t>M2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B6B76"/>
                </a:solidFill>
                <a:latin typeface="Calibri"/>
              </a:rPr>
              <a:t>M3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mbria"/>
              </a:rPr>
              <a:t>Hasil Utama: Akurasi terhadap Standar ANSI/CTA-2065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6B6B76"/>
                </a:solidFill>
                <a:latin typeface="Calibri"/>
              </a:rPr>
              <a:t>MAPE terhadap ECG, tiap subjek, dibanding ambang 10%.</a:t>
            </a:r>
          </a:p>
        </p:txBody>
      </p:sp>
      <p:pic>
        <p:nvPicPr>
          <p:cNvPr id="5" name="Picture 4" descr="mape_10subj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64" y="2011680"/>
            <a:ext cx="10555165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6B76"/>
                </a:solidFill>
                <a:latin typeface="Calibri"/>
              </a:rPr>
              <a:t>M3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B6B76"/>
                </a:solidFill>
                <a:latin typeface="Calibri"/>
              </a:rPr>
              <a:t>M4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mbria"/>
              </a:rPr>
              <a:t>Apakah Akurasi Ini Bermakna? Uji terhadap Trivial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6B6B76"/>
                </a:solidFill>
                <a:latin typeface="Calibri"/>
              </a:rPr>
              <a:t>Sebuah metode baru hanya berarti jika mengalahkan cara paling malas menebak satu angka konstan.</a:t>
            </a:r>
          </a:p>
        </p:txBody>
      </p:sp>
      <p:pic>
        <p:nvPicPr>
          <p:cNvPr id="5" name="Picture 4" descr="vs_trivial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64" y="2011680"/>
            <a:ext cx="10555165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6B76"/>
                </a:solidFill>
                <a:latin typeface="Calibri"/>
              </a:rPr>
              <a:t>M4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B6B76"/>
                </a:solidFill>
                <a:latin typeface="Calibri"/>
              </a:rPr>
              <a:t>M5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mbria"/>
              </a:rPr>
              <a:t>Bukti Sinyal Fase Memang Mengandung Detak Jantung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6B6B76"/>
                </a:solidFill>
                <a:latin typeface="Calibri"/>
              </a:rPr>
              <a:t>MAPE rendah saja bisa diperdebatkan. Tiga uji independen berikut tidak.</a:t>
            </a:r>
          </a:p>
        </p:txBody>
      </p:sp>
      <p:pic>
        <p:nvPicPr>
          <p:cNvPr id="5" name="Picture 4" descr="tiga_buk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64" y="2011680"/>
            <a:ext cx="10555165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6B76"/>
                </a:solidFill>
                <a:latin typeface="Calibri"/>
              </a:rPr>
              <a:t>M5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B6B76"/>
                </a:solidFill>
                <a:latin typeface="Calibri"/>
              </a:rPr>
              <a:t>M6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mbria"/>
              </a:rPr>
              <a:t>Kontrol Negatif: Radar Tanpa Siapa Pun di Depannya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6B6B76"/>
                </a:solidFill>
                <a:latin typeface="Calibri"/>
              </a:rPr>
              <a:t>Uji paling ketat terhadap klaim 'radar membaca detak jantung': matikan subjeknya.</a:t>
            </a:r>
          </a:p>
        </p:txBody>
      </p:sp>
      <p:pic>
        <p:nvPicPr>
          <p:cNvPr id="5" name="Picture 4" descr="kontrol_nega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64" y="2011680"/>
            <a:ext cx="10555165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6B76"/>
                </a:solidFill>
                <a:latin typeface="Calibri"/>
              </a:rPr>
              <a:t>M6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B6B76"/>
                </a:solidFill>
                <a:latin typeface="Calibri"/>
              </a:rPr>
              <a:t>M7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mbria"/>
              </a:rPr>
              <a:t>Hold-Out: Subjek yang Tak Pernah Menyetel Parameter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6B6B76"/>
                </a:solidFill>
                <a:latin typeface="Calibri"/>
              </a:rPr>
              <a:t>Menjawab tuduhan bahwa parameter disetel sampai angkanya bagus.</a:t>
            </a:r>
          </a:p>
        </p:txBody>
      </p:sp>
      <p:pic>
        <p:nvPicPr>
          <p:cNvPr id="5" name="Picture 4" descr="hol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64" y="2011680"/>
            <a:ext cx="10555165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6B76"/>
                </a:solidFill>
                <a:latin typeface="Calibri"/>
              </a:rPr>
              <a:t>M7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B6B76"/>
                </a:solidFill>
                <a:latin typeface="Calibri"/>
              </a:rPr>
              <a:t>M8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mbria"/>
              </a:rPr>
              <a:t>Kriteria Kelayakan: Kapan Metode Ini Berlaku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6B6B76"/>
                </a:solidFill>
                <a:latin typeface="Calibri"/>
              </a:rPr>
              <a:t>Kegagalan bukan acak — ia dapat diprediksi dari kekuatan sinyal (SNR).</a:t>
            </a:r>
          </a:p>
        </p:txBody>
      </p:sp>
      <p:pic>
        <p:nvPicPr>
          <p:cNvPr id="5" name="Picture 4" descr="kriteria_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64" y="2011680"/>
            <a:ext cx="10555165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6B76"/>
                </a:solidFill>
                <a:latin typeface="Calibri"/>
              </a:rPr>
              <a:t>M8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B6B76"/>
                </a:solidFill>
                <a:latin typeface="Calibri"/>
              </a:rPr>
              <a:t>M9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mbria"/>
              </a:rP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1">
                <a:solidFill>
                  <a:srgbClr val="6B6B76"/>
                </a:solidFill>
                <a:latin typeface="Calibri"/>
              </a:rPr>
              <a:t>Satu klaim, dinyatakan lengkap dengan batasnya.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349240" cy="3200400"/>
          </a:xfrm>
          <a:prstGeom prst="roundRect">
            <a:avLst/>
          </a:prstGeom>
          <a:solidFill>
            <a:srgbClr val="F7F8FB"/>
          </a:solidFill>
          <a:ln w="15875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5F2D"/>
                </a:solidFill>
                <a:latin typeface="Calibri"/>
              </a:rPr>
              <a:t>Yang Terbukti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489204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Char char="•"/>
            </a:pPr>
            <a:r>
              <a:rPr sz="1300">
                <a:solidFill>
                  <a:srgbClr val="333333"/>
                </a:solidFill>
                <a:latin typeface="Calibri"/>
              </a:rPr>
              <a:t>8/10 subjek memenuhi ANSI/CTA-2065 (rata-rata MAPE 6,5%)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300">
                <a:solidFill>
                  <a:srgbClr val="333333"/>
                </a:solidFill>
                <a:latin typeface="Calibri"/>
              </a:rPr>
              <a:t>Mengalahkan trivial baseline 3-4x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300">
                <a:solidFill>
                  <a:srgbClr val="333333"/>
                </a:solidFill>
                <a:latin typeface="Calibri"/>
              </a:rPr>
              <a:t>Korelasi antar-subjek +0,83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300">
                <a:solidFill>
                  <a:srgbClr val="333333"/>
                </a:solidFill>
                <a:latin typeface="Calibri"/>
              </a:rPr>
              <a:t>Kontrol negatif: pisah 1.329x dari ruangan kosong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300">
                <a:solidFill>
                  <a:srgbClr val="333333"/>
                </a:solidFill>
                <a:latin typeface="Calibri"/>
              </a:rPr>
              <a:t>Hold-out 2 subjek: konsisten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300">
                <a:solidFill>
                  <a:srgbClr val="333333"/>
                </a:solidFill>
                <a:latin typeface="Calibri"/>
              </a:rPr>
              <a:t>Semuanya tanpa machine learning, tanpa mengganti perangkat keras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2011680"/>
            <a:ext cx="5349240" cy="3200400"/>
          </a:xfrm>
          <a:prstGeom prst="roundRect">
            <a:avLst/>
          </a:prstGeom>
          <a:solidFill>
            <a:srgbClr val="F7F8FB"/>
          </a:solidFill>
          <a:ln w="15875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21945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8860B"/>
                </a:solidFill>
                <a:latin typeface="Calibri"/>
              </a:rPr>
              <a:t>Batas Keberlakuan yang Dinyatakan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651760"/>
            <a:ext cx="489204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spcAft>
                <a:spcPts val="800"/>
              </a:spcAft>
              <a:buChar char="•"/>
            </a:pPr>
            <a:r>
              <a:rPr sz="1300">
                <a:solidFill>
                  <a:srgbClr val="333333"/>
                </a:solidFill>
                <a:latin typeface="Calibri"/>
              </a:rPr>
              <a:t>Kelayakan diprediksi SNR (ambang ~1,8); penyebab jarak &amp; halangan dibuktikan terkendali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300">
                <a:solidFill>
                  <a:srgbClr val="333333"/>
                </a:solidFill>
                <a:latin typeface="Calibri"/>
              </a:rPr>
              <a:t>Berlaku pada kondisi ISTIRAHAT; pelacakan perubahan HR di luar lingkup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300">
                <a:solidFill>
                  <a:srgbClr val="333333"/>
                </a:solidFill>
                <a:latin typeface="Calibri"/>
              </a:rPr>
              <a:t>HRV belum layak (batas fisik, dilaporkan sebagai hasil negatif)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300">
                <a:solidFill>
                  <a:srgbClr val="333333"/>
                </a:solidFill>
                <a:latin typeface="Calibri"/>
              </a:rPr>
              <a:t>Seluruh subjek yang direkam dilaporkan; tidak ada yang dibuang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349240"/>
            <a:ext cx="10908792" cy="1143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68112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Kontribusi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7881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ADCFC"/>
                </a:solidFill>
                <a:latin typeface="Calibri"/>
              </a:rPr>
              <a:t>K2 pipeline pengganti berbasis fase mentah, tervalidasi standar  |  K3 kriteria kelayakan SNR + karakterisasi jarak/halangan  |  K4 koreksi metodologi evaluasi (trivial baseline, ceiling korelasi pada target hampir konstan)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B6B76"/>
                </a:solidFill>
                <a:latin typeface="Calibri"/>
              </a:rPr>
              <a:t>M9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i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914400" cy="12524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83464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0332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1">
                <a:solidFill>
                  <a:srgbClr val="CADCFC"/>
                </a:solidFill>
                <a:latin typeface="Calibri"/>
              </a:rPr>
              <a:t>Pertanyaan dan diskusi dipersilakan.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Rona Regen  —  23925006  —  Universitas Islam Indonesia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